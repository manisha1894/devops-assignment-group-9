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Selenium in Testing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FAEE"/>
                </a:solidFill>
              </a:rPr>
              <a:t>Automated Browser Testing Framework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8"/>
                </a:solidFill>
              </a:rPr>
              <a:t>Web Application Testing Automation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What is Selenium?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63B"/>
                </a:solidFill>
              </a:rPr>
              <a:t>Selenium is a powerful, open-source framework for automating web browser interactions and testing web applications.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456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</a:rPr>
              <a:t>Cross-browser automation</a:t>
            </a:r>
            <a:pPr indent="0" marL="0">
              <a:buNone/>
            </a:pPr>
            <a:r>
              <a:rPr lang="en-US" sz="1600" dirty="0">
                <a:solidFill>
                  <a:srgbClr val="1B263B"/>
                </a:solidFill>
              </a:rPr>
              <a:t>Support for multiple programming languages</a:t>
            </a:r>
            <a:pPr indent="0" marL="0">
              <a:buNone/>
            </a:pPr>
            <a:r>
              <a:rPr lang="en-US" sz="1600" dirty="0">
                <a:solidFill>
                  <a:srgbClr val="1B263B"/>
                </a:solidFill>
              </a:rPr>
              <a:t>Works on Windows, Mac, and Linux</a:t>
            </a:r>
            <a:pPr indent="0" marL="0">
              <a:buNone/>
            </a:pPr>
            <a:r>
              <a:rPr lang="en-US" sz="1600" dirty="0">
                <a:solidFill>
                  <a:srgbClr val="1B263B"/>
                </a:solidFill>
              </a:rPr>
              <a:t>Enables functional and regression testing</a:t>
            </a:r>
            <a:pPr indent="0" marL="0">
              <a:buNone/>
            </a:pPr>
            <a:r>
              <a:rPr lang="en-US" sz="1600" dirty="0">
                <a:solidFill>
                  <a:srgbClr val="1B263B"/>
                </a:solidFill>
              </a:rPr>
              <a:t>Open-source and free to use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Selenium Components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ED_RECTANGLE">
            <a:avLst/>
          </a:prstGeom>
          <a:solidFill>
            <a:srgbClr val="F1FAEE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Selenium WebDriver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2344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</a:rPr>
              <a:t>Primary component for browser automation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31520"/>
          </a:xfrm>
          <a:prstGeom prst="ROUNDED_RECTANGLE">
            <a:avLst/>
          </a:prstGeom>
          <a:solidFill>
            <a:srgbClr val="F0F0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Selenium Grid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1031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</a:rPr>
              <a:t>Enables parallel testing across multiple machines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731520"/>
          </a:xfrm>
          <a:prstGeom prst="ROUNDED_RECTANGLE">
            <a:avLst/>
          </a:prstGeom>
          <a:solidFill>
            <a:srgbClr val="F1FAEE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Selenium IDE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9718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</a:rPr>
              <a:t>Record and playback for test creation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ED_RECTANGLE">
            <a:avLst/>
          </a:prstGeom>
          <a:solidFill>
            <a:srgbClr val="F0F0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Selenium RC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840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</a:rPr>
              <a:t>Legacy remote control (deprecated)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Supported Programming Languages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103120" cy="1097280"/>
          </a:xfrm>
          <a:prstGeom prst="ROUNDED_RECTANGLE">
            <a:avLst/>
          </a:prstGeom>
          <a:solidFill>
            <a:srgbClr val="52B788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Java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1371600"/>
            <a:ext cx="2103120" cy="1097280"/>
          </a:xfrm>
          <a:prstGeom prst="ROUNDED_RECTANGLE">
            <a:avLst/>
          </a:prstGeom>
          <a:solidFill>
            <a:srgbClr val="52B788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Python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2103120" cy="1097280"/>
          </a:xfrm>
          <a:prstGeom prst="ROUNDED_RECTANGLE">
            <a:avLst/>
          </a:prstGeom>
          <a:solidFill>
            <a:srgbClr val="52B788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C#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2103120" cy="1097280"/>
          </a:xfrm>
          <a:prstGeom prst="ROUNDED_RECTANGLE">
            <a:avLst/>
          </a:prstGeom>
          <a:solidFill>
            <a:srgbClr val="52B788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Ruby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200400"/>
            <a:ext cx="2103120" cy="1097280"/>
          </a:xfrm>
          <a:prstGeom prst="ROUNDED_RECTANGLE">
            <a:avLst/>
          </a:prstGeom>
          <a:solidFill>
            <a:srgbClr val="52B788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2103120" cy="1097280"/>
          </a:xfrm>
          <a:prstGeom prst="ROUNDED_RECTANGLE">
            <a:avLst/>
          </a:prstGeom>
          <a:solidFill>
            <a:srgbClr val="52B788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Advantages of Selenium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</a:rPr>
              <a:t>Open-source and completely free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Supports multiple browsers (Chrome, Firefox, Safari, Edge, IE)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Works across different operating systems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Simple and powerful API for browser control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Excellent community support and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Can simulate user interactions accurately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Supports parallel test execution with Grid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Integrates well with testing frameworks and CI/CD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Limitations &amp; Challenges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</a:rPr>
              <a:t>Cannot test native mobile applications directly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Limited support for image-based testing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Slower performance compared to some alternatives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Requires programming knowledge for test creation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Difficult to handle dynamic and complex JavaScript frameworks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No built-in reporting (needs integration with tools)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Maintenance overhead due to UI changes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Common 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65760" cy="365760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63B"/>
                </a:solidFill>
              </a:rPr>
              <a:t>Functional Testing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65760" cy="365760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63B"/>
                </a:solidFill>
              </a:rPr>
              <a:t>Regression Testing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365760" cy="365760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63B"/>
                </a:solidFill>
              </a:rPr>
              <a:t>Performance Testing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365760" cy="365760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🔗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63B"/>
                </a:solidFill>
              </a:rPr>
              <a:t>Cross-browser Testing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WebDriver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645920" cy="731520"/>
          </a:xfrm>
          <a:prstGeom prst="ROUNDED_RECTANGLE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Script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1645920" cy="731520"/>
          </a:xfrm>
          <a:prstGeom prst="ROUNDED_RECTANGLE">
            <a:avLst/>
          </a:prstGeom>
          <a:solidFill>
            <a:srgbClr val="7B68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Selenium WebDriver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1645920" cy="731520"/>
          </a:xfrm>
          <a:prstGeom prst="ROUNDED_RECTANGLE">
            <a:avLst/>
          </a:prstGeom>
          <a:solidFill>
            <a:srgbClr val="50C8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 Driver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1645920" cy="731520"/>
          </a:xfrm>
          <a:prstGeom prst="ROUNDED_RECTANGL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Browser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737360"/>
            <a:ext cx="822960" cy="0"/>
          </a:xfrm>
          <a:prstGeom prst="LINE">
            <a:avLst/>
          </a:prstGeom>
          <a:noFill/>
          <a:ln w="25400">
            <a:solidFill>
              <a:srgbClr val="1B26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1737360"/>
            <a:ext cx="822960" cy="0"/>
          </a:xfrm>
          <a:prstGeom prst="LINE">
            <a:avLst/>
          </a:prstGeom>
          <a:noFill/>
          <a:ln w="25400">
            <a:solidFill>
              <a:srgbClr val="1B26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1737360"/>
            <a:ext cx="822960" cy="0"/>
          </a:xfrm>
          <a:prstGeom prst="LINE">
            <a:avLst/>
          </a:prstGeom>
          <a:noFill/>
          <a:ln w="25400">
            <a:solidFill>
              <a:srgbClr val="1B263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63B"/>
                </a:solidFill>
              </a:rPr>
              <a:t>Selenium interacts with web browsers through browser-specific drivers, enabling test automation across different browsers.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Getting Started with Selenium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</a:rPr>
              <a:t>1. Install Selenium WebDriver (via package manager)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2. Download appropriate browser driver (ChromeDriver, GeckoDriver, etc.)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3. Set up your testing framework (JUnit, TestNG, pytest, etc.)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4. Write test cases using Selenium API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5. Execute tests and analyze results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63B"/>
                </a:solidFill>
              </a:rPr>
              <a:t>6. Integrate with CI/CD pipeline for continuous testing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Best Practices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</a:rPr>
              <a:t>Use Page Object Model (POM) for maintainability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Implement explicit waits instead of hard sleeps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Keep tests independent and isolated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Use descriptive test names and comments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Implement proper error handling and logging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Run tests in parallel when possible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Maintain browser compatibility across versions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63B"/>
                </a:solidFill>
              </a:rPr>
              <a:t>Use version control for test scripts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2B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FAEE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www.selenium.dev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2026-09-14T06:07:25Z</dcterms:created>
  <dcterms:modified xsi:type="dcterms:W3CDTF">2026-09-14T06:07:25Z</dcterms:modified>
</cp:coreProperties>
</file>